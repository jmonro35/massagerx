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1" r:id="rId5"/>
    <p:sldId id="284" r:id="rId6"/>
    <p:sldId id="280" r:id="rId7"/>
    <p:sldId id="278" r:id="rId8"/>
    <p:sldId id="261" r:id="rId9"/>
    <p:sldId id="292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3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879" autoAdjust="0"/>
  </p:normalViewPr>
  <p:slideViewPr>
    <p:cSldViewPr snapToGrid="0">
      <p:cViewPr>
        <p:scale>
          <a:sx n="77" d="100"/>
          <a:sy n="77" d="100"/>
        </p:scale>
        <p:origin x="773" y="54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6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Massagerx</a:t>
            </a:r>
            <a:br>
              <a:rPr lang="en-US" dirty="0"/>
            </a:br>
            <a:r>
              <a:rPr lang="en-US" sz="2400" dirty="0"/>
              <a:t>massage recommendation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Major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anchor="t">
            <a:normAutofit/>
          </a:bodyPr>
          <a:lstStyle/>
          <a:p>
            <a:r>
              <a:rPr lang="en-US" dirty="0" err="1"/>
              <a:t>Mysql</a:t>
            </a:r>
            <a:r>
              <a:rPr lang="en-US" dirty="0"/>
              <a:t> database</a:t>
            </a:r>
          </a:p>
          <a:p>
            <a:r>
              <a:rPr lang="en-US" dirty="0"/>
              <a:t>Python scoring logic</a:t>
            </a:r>
          </a:p>
          <a:p>
            <a:r>
              <a:rPr lang="en-US" dirty="0"/>
              <a:t>Flask &amp; </a:t>
            </a:r>
            <a:r>
              <a:rPr lang="en-US" dirty="0" err="1"/>
              <a:t>mysql</a:t>
            </a:r>
            <a:r>
              <a:rPr lang="en-US" dirty="0"/>
              <a:t> connector</a:t>
            </a:r>
          </a:p>
        </p:txBody>
      </p:sp>
      <p:pic>
        <p:nvPicPr>
          <p:cNvPr id="9" name="Picture Placeholder 8" descr="Computer script on a screen">
            <a:extLst>
              <a:ext uri="{FF2B5EF4-FFF2-40B4-BE49-F238E27FC236}">
                <a16:creationId xmlns:a16="http://schemas.microsoft.com/office/drawing/2014/main" id="{DDFAF687-D899-AEB8-661C-C4FC42B3ED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85" r="20285"/>
          <a:stretch>
            <a:fillRect/>
          </a:stretch>
        </p:blipFill>
        <p:spPr>
          <a:xfrm>
            <a:off x="0" y="0"/>
            <a:ext cx="6115050" cy="6858000"/>
          </a:xfrm>
        </p:spPr>
      </p:pic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095922" cy="6858000"/>
          </a:xfrm>
        </p:spPr>
      </p:pic>
      <p:pic>
        <p:nvPicPr>
          <p:cNvPr id="7" name="Picture 6" descr="A database schema depicting massage types, their descriptions, intensities, prices, and associated symptoms, along with queries for data insertion and safety screening questions.&#10;&#10;AI-generated content may be incorrect.">
            <a:extLst>
              <a:ext uri="{FF2B5EF4-FFF2-40B4-BE49-F238E27FC236}">
                <a16:creationId xmlns:a16="http://schemas.microsoft.com/office/drawing/2014/main" id="{3E111C04-7087-0CCE-4AE3-122176A942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69575" y="407276"/>
            <a:ext cx="4824249" cy="604344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3202797" y="2351690"/>
            <a:ext cx="5623035" cy="2286000"/>
          </a:xfrm>
        </p:spPr>
        <p:txBody>
          <a:bodyPr/>
          <a:lstStyle/>
          <a:p>
            <a:r>
              <a:rPr lang="en-US" dirty="0" err="1">
                <a:highlight>
                  <a:srgbClr val="000000"/>
                </a:highlight>
              </a:rPr>
              <a:t>Mysql</a:t>
            </a:r>
            <a:r>
              <a:rPr lang="en-US" dirty="0">
                <a:highlight>
                  <a:srgbClr val="000000"/>
                </a:highlight>
              </a:rPr>
              <a:t> database</a:t>
            </a:r>
          </a:p>
        </p:txBody>
      </p:sp>
      <p:pic>
        <p:nvPicPr>
          <p:cNvPr id="9" name="Picture 8" descr="The provided text appears to be a series of SQL commands used to create a database structure for a massage service, including tables for massage types, symptom keywords, safety questions, and massage scores.&#10;&#10;AI-generated content may be incorrect.">
            <a:extLst>
              <a:ext uri="{FF2B5EF4-FFF2-40B4-BE49-F238E27FC236}">
                <a16:creationId xmlns:a16="http://schemas.microsoft.com/office/drawing/2014/main" id="{A00CCB86-52CF-2C50-7F83-F557D4510C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8176" y="407275"/>
            <a:ext cx="4842891" cy="604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240C703-13D6-133C-8945-14CA60639B69}"/>
              </a:ext>
            </a:extLst>
          </p:cNvPr>
          <p:cNvSpPr/>
          <p:nvPr/>
        </p:nvSpPr>
        <p:spPr>
          <a:xfrm>
            <a:off x="0" y="2753139"/>
            <a:ext cx="12192000" cy="132042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lumMod val="95000"/>
                <a:alpha val="5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7148" y="2963032"/>
            <a:ext cx="3277704" cy="931936"/>
          </a:xfrm>
          <a:noFill/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Scoring logic</a:t>
            </a:r>
            <a:b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highlights</a:t>
            </a:r>
          </a:p>
        </p:txBody>
      </p:sp>
      <p:pic>
        <p:nvPicPr>
          <p:cNvPr id="12" name="Picture 11" descr="The code snippet is a Python function that processes a list of matches, updating a scores dictionary with match weights, and appending rationales to a list based on certain conditions.&#10;&#10;AI-generated content may be incorrect.">
            <a:extLst>
              <a:ext uri="{FF2B5EF4-FFF2-40B4-BE49-F238E27FC236}">
                <a16:creationId xmlns:a16="http://schemas.microsoft.com/office/drawing/2014/main" id="{C990FDEA-BC01-56BE-CA61-6FC50A104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6" y="4559583"/>
            <a:ext cx="4617720" cy="1453591"/>
          </a:xfrm>
          <a:prstGeom prst="rect">
            <a:avLst/>
          </a:prstGeom>
        </p:spPr>
      </p:pic>
      <p:pic>
        <p:nvPicPr>
          <p:cNvPr id="14" name="Picture 13" descr="The provided text is a snippet of Python code that defines a function and a few lines of code that follow it.&#10;&#10;The `get_score` function takes a dictionary `x` as an argument and returns the value associated with the key `1`.&#10;&#10;The next lines of code create a sorted list `ranked` of tuples from the dictionary `scores` based on the values returned by the `get_score` function. The `reverse=True` parameter sorts the list in descending order.&#10;&#10;The variables `top_message_id` and `top_score` are then assigned the first and second elements of the first tuple in the sorted list `ranked`.&#10;&#10;AI-generated content may be incorrect.">
            <a:extLst>
              <a:ext uri="{FF2B5EF4-FFF2-40B4-BE49-F238E27FC236}">
                <a16:creationId xmlns:a16="http://schemas.microsoft.com/office/drawing/2014/main" id="{C320D46A-5A0D-20C8-C9BA-443284ECE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404" y="4467434"/>
            <a:ext cx="4617720" cy="1320427"/>
          </a:xfrm>
          <a:prstGeom prst="rect">
            <a:avLst/>
          </a:prstGeom>
        </p:spPr>
      </p:pic>
      <p:pic>
        <p:nvPicPr>
          <p:cNvPr id="17" name="Picture 16" descr="The image displays a Python code snippet importing the `mysql.connector` module and defining a function `get_db` that connects to a MySQL database using provided credentials.&#10;&#10;AI-generated content may be incorrect.">
            <a:extLst>
              <a:ext uri="{FF2B5EF4-FFF2-40B4-BE49-F238E27FC236}">
                <a16:creationId xmlns:a16="http://schemas.microsoft.com/office/drawing/2014/main" id="{7F570BD4-6E6A-3E15-E3F5-D225CF0FF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15" y="259891"/>
            <a:ext cx="4614635" cy="1844200"/>
          </a:xfrm>
          <a:prstGeom prst="rect">
            <a:avLst/>
          </a:prstGeom>
        </p:spPr>
      </p:pic>
      <p:pic>
        <p:nvPicPr>
          <p:cNvPr id="19" name="Picture 18" descr="The provided text describes a Python function that queries a database for symptom-related keywords to find their associated massage IDs, weights, and rationales.&#10;&#10;AI-generated content may be incorrect.">
            <a:extLst>
              <a:ext uri="{FF2B5EF4-FFF2-40B4-BE49-F238E27FC236}">
                <a16:creationId xmlns:a16="http://schemas.microsoft.com/office/drawing/2014/main" id="{390C6007-BD6C-18D3-E3D9-93A5479CA9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2439" y="394071"/>
            <a:ext cx="4617720" cy="18170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253352-FA80-A16B-3A37-C00FD9F65E1D}"/>
              </a:ext>
            </a:extLst>
          </p:cNvPr>
          <p:cNvSpPr txBox="1"/>
          <p:nvPr/>
        </p:nvSpPr>
        <p:spPr>
          <a:xfrm>
            <a:off x="879724" y="2267122"/>
            <a:ext cx="315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MySQL Connection Function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1F77B9-1675-ACAC-2518-96B94F44FFF1}"/>
              </a:ext>
            </a:extLst>
          </p:cNvPr>
          <p:cNvSpPr txBox="1"/>
          <p:nvPr/>
        </p:nvSpPr>
        <p:spPr>
          <a:xfrm>
            <a:off x="7782191" y="2243949"/>
            <a:ext cx="315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Client Text Manipulation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41820C-A7BA-C4F9-CB95-3301484A829E}"/>
              </a:ext>
            </a:extLst>
          </p:cNvPr>
          <p:cNvSpPr txBox="1"/>
          <p:nvPr/>
        </p:nvSpPr>
        <p:spPr>
          <a:xfrm>
            <a:off x="879724" y="6228777"/>
            <a:ext cx="4029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Tallying Score for Each Massage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5BC9AE-A421-25D0-C248-A83DD5B97DB3}"/>
              </a:ext>
            </a:extLst>
          </p:cNvPr>
          <p:cNvSpPr txBox="1"/>
          <p:nvPr/>
        </p:nvSpPr>
        <p:spPr>
          <a:xfrm>
            <a:off x="7113404" y="6228777"/>
            <a:ext cx="4029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Determine Highest Ranked Massage Type</a:t>
            </a:r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US" dirty="0"/>
              <a:t>Flask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IMPORT THREE VITAL COMPONENTS FROM FLASK TOOL</a:t>
            </a:r>
          </a:p>
          <a:p>
            <a:r>
              <a:rPr lang="en-US" dirty="0"/>
              <a:t>IMPORT SCORE_SYMPTOMS VARIABLE FROM SCORING LOGIC </a:t>
            </a:r>
          </a:p>
          <a:p>
            <a:r>
              <a:rPr lang="en-US" dirty="0"/>
              <a:t>@MAIN.ROUTE(‘…‘)</a:t>
            </a:r>
          </a:p>
          <a:p>
            <a:r>
              <a:rPr lang="en-US" dirty="0"/>
              <a:t>SEQUENCE MATTERS IN FLASK CODE … CHECK SCREENING ANSWERS FIRST THEN IF THE CLIENT “PASSES” THE SCREENING SHOW RECOMMENDATION</a:t>
            </a:r>
          </a:p>
        </p:txBody>
      </p:sp>
      <p:pic>
        <p:nvPicPr>
          <p:cNvPr id="11" name="Picture Placeholder 10" descr="A Flask web application with routes for displaying an index page, a symptom screening form, and results page, including a logic to check for specific health conditions and display a message if symptoms are unmatched.&#10;&#10;AI-generated content may be incorrect.">
            <a:extLst>
              <a:ext uri="{FF2B5EF4-FFF2-40B4-BE49-F238E27FC236}">
                <a16:creationId xmlns:a16="http://schemas.microsoft.com/office/drawing/2014/main" id="{C872CF0B-028B-D0DF-20B3-AF18AF88E1F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-3651" r="-1631"/>
          <a:stretch>
            <a:fillRect/>
          </a:stretch>
        </p:blipFill>
        <p:spPr>
          <a:xfrm>
            <a:off x="-496956" y="0"/>
            <a:ext cx="5178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6408"/>
            <a:ext cx="5212078" cy="1325880"/>
          </a:xfrm>
        </p:spPr>
        <p:txBody>
          <a:bodyPr anchor="ctr">
            <a:normAutofit/>
          </a:bodyPr>
          <a:lstStyle/>
          <a:p>
            <a:r>
              <a:rPr lang="en-US" dirty="0"/>
              <a:t>OTHER COMPONENTS OF THE PROGRAM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BC9429-080E-7945-3D52-3C03688B8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258203"/>
            <a:ext cx="5212079" cy="367034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HTML TEMPLATES – LEARNING CURVE WAS STEEP AI ASSISTED WITH PREMADE RENDERING TEMPLATES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CSS – AESTHETICS FOR THE WEB PAGE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69C44DB-E6F6-747B-CBF9-1D797BF9747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- ADD-ON SERVICES WITH PRICING (CUPPING, CBD OIL, STRETCHING)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- SESSION HISTORY — TRACK PAST RECOMMENDATIONS PER CLIENT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- EXPANDED KEYWORD LIBRARY FOR BROADER SYMPTOM COVERAGE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- ADMIN DASHBOARD SHOWING KEYWORD WEIGHTS AND SCORING BREAKDOWN</a:t>
            </a:r>
          </a:p>
          <a:p>
            <a:endParaRPr lang="en-US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1834F4-A132-4B81-B759-67EB7E7A4F23}"/>
              </a:ext>
            </a:extLst>
          </p:cNvPr>
          <p:cNvSpPr txBox="1">
            <a:spLocks/>
          </p:cNvSpPr>
          <p:nvPr/>
        </p:nvSpPr>
        <p:spPr>
          <a:xfrm>
            <a:off x="6141724" y="365760"/>
            <a:ext cx="5212078" cy="1325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FUTURE COMPONENTS</a:t>
            </a:r>
          </a:p>
        </p:txBody>
      </p:sp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US" dirty="0"/>
              <a:t>JASMIN MONROE</a:t>
            </a:r>
          </a:p>
          <a:p>
            <a:r>
              <a:rPr lang="en-US" dirty="0"/>
              <a:t>MS HEALTHCARE MANAGEMENT AND INFORMATICS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549</TotalTime>
  <Words>162</Words>
  <Application>Microsoft Office PowerPoint</Application>
  <PresentationFormat>Widescreen</PresentationFormat>
  <Paragraphs>32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Wingdings</vt:lpstr>
      <vt:lpstr>Custom</vt:lpstr>
      <vt:lpstr>Massagerx massage recommendation program</vt:lpstr>
      <vt:lpstr>Major components</vt:lpstr>
      <vt:lpstr>Mysql database</vt:lpstr>
      <vt:lpstr>Scoring logic highlights</vt:lpstr>
      <vt:lpstr>Flask highlights</vt:lpstr>
      <vt:lpstr>OTHER COMPONENTS OF THE PROGRAM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Monroe</dc:creator>
  <cp:lastModifiedBy>Jasmin Monroe</cp:lastModifiedBy>
  <cp:revision>1</cp:revision>
  <dcterms:created xsi:type="dcterms:W3CDTF">2026-05-08T11:36:47Z</dcterms:created>
  <dcterms:modified xsi:type="dcterms:W3CDTF">2026-05-08T20:46:01Z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